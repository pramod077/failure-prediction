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lsm" ContentType="application/vnd.ms-excel.sheet.macroEnabled.12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>
        <p:scale>
          <a:sx n="75" d="100"/>
          <a:sy n="75" d="100"/>
        </p:scale>
        <p:origin x="1950" y="72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3612BA-688C-BA54-20AA-0B1A9B15DA8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2E0BB95-A9F3-3823-C040-7C817FC7D81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6BA2F05-C0F2-2D3F-011D-55CA1C9991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8757A3-B38F-42F8-9699-A7DA05BEBAD0}" type="datetimeFigureOut">
              <a:rPr lang="en-IN" smtClean="0"/>
              <a:t>11-12-2025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C0D1A65-C670-832E-9A35-379E440A5C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0753149-B3B4-D300-6500-764170AF87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31EB23-4DCC-4505-AE05-672C5D552D6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6839153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FB5D5D-0376-4172-C5CD-03C6AC6FA6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61B84CF-BF4E-376A-E111-80AC2422788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F9A4147-7DD6-5A03-F0ED-BD7C8DB21F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8757A3-B38F-42F8-9699-A7DA05BEBAD0}" type="datetimeFigureOut">
              <a:rPr lang="en-IN" smtClean="0"/>
              <a:t>11-12-2025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4ADB614-A23C-8AA4-E836-A134EB4498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5797058-3DF4-158A-D0CC-84D9127D53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31EB23-4DCC-4505-AE05-672C5D552D6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0028546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6702EE-0FF5-C0D5-D467-C5997BFFFB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3207EEB-6447-8E62-A6FE-74F2A2F18B4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5A7F1D9-1B7E-24E9-3188-45FC4A52D2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8757A3-B38F-42F8-9699-A7DA05BEBAD0}" type="datetimeFigureOut">
              <a:rPr lang="en-IN" smtClean="0"/>
              <a:t>11-12-2025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DCC19C2-E0FF-00BA-0479-3D6E02408E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1E8854D-5A20-8B99-003A-73551D0B27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31EB23-4DCC-4505-AE05-672C5D552D6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5424997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377D41-84D0-4221-61E0-964E46DFD0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A043D11-F45E-556F-E9E7-1C585314CEC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0467FD7-9E30-3704-F35C-B9D7B3FABC8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13FA106-A969-34D2-1442-580F12E7EC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8757A3-B38F-42F8-9699-A7DA05BEBAD0}" type="datetimeFigureOut">
              <a:rPr lang="en-IN" smtClean="0"/>
              <a:t>11-12-2025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59F1313-4D30-2D88-AD76-47CBE2C602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48183FA-CF05-4921-51C2-49C10B27BA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31EB23-4DCC-4505-AE05-672C5D552D6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3127299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C81FAE-2CA4-58C1-1007-4D0CC43CB1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327461F-BF19-7DE0-880B-908B92765DD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808F522-7ABB-EDCC-D6E3-2B6A4184390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609509D-D2EC-DC2D-888B-761BDFDE62F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75317F2-3DA0-DB2F-4988-232122EDA06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2C9E79A-58E4-173A-E6DE-79DEE18FA6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8757A3-B38F-42F8-9699-A7DA05BEBAD0}" type="datetimeFigureOut">
              <a:rPr lang="en-IN" smtClean="0"/>
              <a:t>11-12-2025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0F6E84E-0617-83E7-1985-FCC3A8908E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E6E367A-0EEA-4161-85A2-0F1BE166DA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31EB23-4DCC-4505-AE05-672C5D552D6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3728762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9B1B7C-6627-F26E-4A5B-2E23BDAF4A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C453E87-7C6D-1999-73E3-C004A6E795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8757A3-B38F-42F8-9699-A7DA05BEBAD0}" type="datetimeFigureOut">
              <a:rPr lang="en-IN" smtClean="0"/>
              <a:t>11-12-2025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1FF7113-F478-01A7-191B-E5512E9DA2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8AEA9E4-3CFA-43F7-143A-CA19867AA9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31EB23-4DCC-4505-AE05-672C5D552D6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3361013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6AD663A-2319-C537-DFE1-BC3B16630F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8757A3-B38F-42F8-9699-A7DA05BEBAD0}" type="datetimeFigureOut">
              <a:rPr lang="en-IN" smtClean="0"/>
              <a:t>11-12-2025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BE5D655-403A-8093-6223-EDC253BF54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D211003-7726-A70A-437D-92F8D8D5E1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31EB23-4DCC-4505-AE05-672C5D552D6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0974474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0AF7D1-1389-04E6-641A-F4FAB5C803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9B36506-E862-9CE0-171C-F394021979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BC93BB0-7D54-B997-84CC-49649A7CCEC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5522F64-6BA2-2938-7E65-4FFF47B703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8757A3-B38F-42F8-9699-A7DA05BEBAD0}" type="datetimeFigureOut">
              <a:rPr lang="en-IN" smtClean="0"/>
              <a:t>11-12-2025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956FA4F-DFE7-11D8-0F07-3113124D1E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E997462-2145-FED8-3318-9CDF62AC09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31EB23-4DCC-4505-AE05-672C5D552D6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8362930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BE893D-4B8C-DA0A-E177-0CAE37F776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514487B-EF55-9ABE-08ED-24DC24298F1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29B4CB5-1C94-BADE-DFE6-0BFAA2E5AF5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8F94A2F-33F7-7D04-13C4-5BF4DB2A28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8757A3-B38F-42F8-9699-A7DA05BEBAD0}" type="datetimeFigureOut">
              <a:rPr lang="en-IN" smtClean="0"/>
              <a:t>11-12-2025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2B8E7F8-CD36-675C-17D7-C218C937CD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D6BEE08-A92E-8FA7-FE82-4A1AB394EC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31EB23-4DCC-4505-AE05-672C5D552D6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192778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FEA3D8-B4A5-D4FB-5D25-EC95A884B4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6F7A256-5C91-44BF-EC8A-6006D3A05B2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55DDDC5-C17E-BA76-23F3-6E80B4569A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8757A3-B38F-42F8-9699-A7DA05BEBAD0}" type="datetimeFigureOut">
              <a:rPr lang="en-IN" smtClean="0"/>
              <a:t>11-12-2025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EDD41C8-F407-E39B-7C41-0D641FAA43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48A3133-E01B-E4CE-7181-4E2F3B7C93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31EB23-4DCC-4505-AE05-672C5D552D6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8893908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5F88342-C92B-6F22-106B-69FADD11249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BA9C1FD-8EFA-C009-11A1-EDD77B152D5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1C7A8B-05C6-64B0-FBC9-CAF49A12FC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8757A3-B38F-42F8-9699-A7DA05BEBAD0}" type="datetimeFigureOut">
              <a:rPr lang="en-IN" smtClean="0"/>
              <a:t>11-12-2025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AAB2B72-BFFD-7512-94C6-DA9E4A5555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AF5DB0-D050-BF14-EE04-4E742A2BCC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31EB23-4DCC-4505-AE05-672C5D552D6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3824743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4D31C33-8637-0CB6-5C03-D2905B3325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BAB3F07-262E-B5DC-8044-1CFE75F9D9E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ED108EE-444A-9684-37A5-0061383D20A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C8757A3-B38F-42F8-9699-A7DA05BEBAD0}" type="datetimeFigureOut">
              <a:rPr lang="en-IN" smtClean="0"/>
              <a:t>11-12-2025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BBFEF13-DE24-CC28-C5EE-B7F5738C54E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D2AF57E-FBE9-A698-9C34-F8BF94E000C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F31EB23-4DCC-4505-AE05-672C5D552D6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927079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2.bin"/><Relationship Id="rId3" Type="http://schemas.openxmlformats.org/officeDocument/2006/relationships/image" Target="../media/image4.png"/><Relationship Id="rId7" Type="http://schemas.openxmlformats.org/officeDocument/2006/relationships/image" Target="../media/image6.emf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1.bin"/><Relationship Id="rId5" Type="http://schemas.openxmlformats.org/officeDocument/2006/relationships/image" Target="../media/image5.emf"/><Relationship Id="rId4" Type="http://schemas.openxmlformats.org/officeDocument/2006/relationships/package" Target="../embeddings/Microsoft_Excel_Macro-Enabled_Worksheet.xlsm"/><Relationship Id="rId9" Type="http://schemas.openxmlformats.org/officeDocument/2006/relationships/image" Target="../media/image7.emf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930DDD-E570-33D4-9F2C-AC2C750AF8F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Failure Prediction CIRCA </a:t>
            </a:r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65889AE-D462-91F3-646E-70F1EE474DB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Date: 11</a:t>
            </a:r>
            <a:r>
              <a:rPr lang="en-US" baseline="30000" dirty="0"/>
              <a:t>th</a:t>
            </a:r>
            <a:r>
              <a:rPr lang="en-US" dirty="0"/>
              <a:t> December 2025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02464970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993039D-EAE4-CB3B-240A-B0DE518C9339}"/>
              </a:ext>
            </a:extLst>
          </p:cNvPr>
          <p:cNvSpPr txBox="1"/>
          <p:nvPr/>
        </p:nvSpPr>
        <p:spPr>
          <a:xfrm>
            <a:off x="0" y="0"/>
            <a:ext cx="1096935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Problem statement: To create AI agent in VS code to predict circa post stress, deflection or failure prediction </a:t>
            </a:r>
          </a:p>
          <a:p>
            <a:r>
              <a:rPr lang="en-US" dirty="0"/>
              <a:t>using linear regression machine learning technique at given criteria of load &amp; material thickness.</a:t>
            </a:r>
            <a:endParaRPr lang="en-IN" dirty="0"/>
          </a:p>
        </p:txBody>
      </p:sp>
      <p:pic>
        <p:nvPicPr>
          <p:cNvPr id="4" name="Picture 3" descr="A computer screen shot of a computer screen&#10;&#10;AI-generated content may be incorrect.">
            <a:extLst>
              <a:ext uri="{FF2B5EF4-FFF2-40B4-BE49-F238E27FC236}">
                <a16:creationId xmlns:a16="http://schemas.microsoft.com/office/drawing/2014/main" id="{82635B29-6D1F-C39C-43A0-44928997875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5176" y="646331"/>
            <a:ext cx="11512296" cy="61970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8618006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E08D4B7-DA7D-D9FC-CCAC-C1BB087A82C6}"/>
              </a:ext>
            </a:extLst>
          </p:cNvPr>
          <p:cNvSpPr txBox="1"/>
          <p:nvPr/>
        </p:nvSpPr>
        <p:spPr>
          <a:xfrm>
            <a:off x="0" y="0"/>
            <a:ext cx="12298680" cy="46228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dirty="0"/>
              <a:t>Procedure/steps:</a:t>
            </a:r>
          </a:p>
          <a:p>
            <a:pPr marL="342900" indent="-342900">
              <a:lnSpc>
                <a:spcPct val="150000"/>
              </a:lnSpc>
              <a:buAutoNum type="arabicParenR"/>
            </a:pPr>
            <a:r>
              <a:rPr lang="en-US" dirty="0"/>
              <a:t>Created CAD model of required sub assembly i.e., 2-inch diameter Circa 5 ft height.</a:t>
            </a:r>
          </a:p>
          <a:p>
            <a:pPr marL="342900" indent="-342900">
              <a:lnSpc>
                <a:spcPct val="150000"/>
              </a:lnSpc>
              <a:buAutoNum type="arabicParenR"/>
            </a:pPr>
            <a:r>
              <a:rPr lang="en-US" dirty="0"/>
              <a:t>Run simulations to generate training data of analysis results. </a:t>
            </a:r>
          </a:p>
          <a:p>
            <a:pPr marL="342900" indent="-342900">
              <a:lnSpc>
                <a:spcPct val="150000"/>
              </a:lnSpc>
              <a:buAutoNum type="arabicParenR"/>
            </a:pPr>
            <a:r>
              <a:rPr lang="en-US" dirty="0"/>
              <a:t>Here actually ran all possible simulations for 50, 80, 150, 200, 320, 400 Pounds for 2-inch diameter Circa </a:t>
            </a:r>
          </a:p>
          <a:p>
            <a:pPr>
              <a:lnSpc>
                <a:spcPct val="150000"/>
              </a:lnSpc>
            </a:pPr>
            <a:r>
              <a:rPr lang="en-US" dirty="0"/>
              <a:t>with various thickness 1.24, 1.65, 2, 2.5, 3, 3.42 mm, respectively.</a:t>
            </a:r>
          </a:p>
          <a:p>
            <a:pPr>
              <a:lnSpc>
                <a:spcPct val="150000"/>
              </a:lnSpc>
            </a:pPr>
            <a:r>
              <a:rPr lang="en-US" dirty="0"/>
              <a:t>4) Created an excel or csv file of analysis results in tabular format.</a:t>
            </a:r>
          </a:p>
          <a:p>
            <a:pPr>
              <a:lnSpc>
                <a:spcPct val="150000"/>
              </a:lnSpc>
            </a:pPr>
            <a:r>
              <a:rPr lang="en-US" dirty="0"/>
              <a:t>5) In VS code, pasted that result file. Created AI agent &amp; given prompt for instruction to GPT-5 mini model for asking to predict stress &amp; deflection values of let’s say an example, 80 Pound load with 1.24 mm thick Circa post. This is testing data for model evaluation.</a:t>
            </a:r>
          </a:p>
          <a:p>
            <a:pPr>
              <a:lnSpc>
                <a:spcPct val="150000"/>
              </a:lnSpc>
            </a:pPr>
            <a:r>
              <a:rPr lang="en-US" dirty="0"/>
              <a:t>6) Model learned from training data. It created code &amp; gave answer which tried to match to our training actual data. </a:t>
            </a:r>
          </a:p>
          <a:p>
            <a:pPr>
              <a:lnSpc>
                <a:spcPct val="150000"/>
              </a:lnSpc>
            </a:pPr>
            <a:r>
              <a:rPr lang="en-US" dirty="0"/>
              <a:t>7) In this way as preliminary check for such post, we can predict result values without jumping to simulation activity directly. </a:t>
            </a:r>
          </a:p>
        </p:txBody>
      </p:sp>
    </p:spTree>
    <p:extLst>
      <p:ext uri="{BB962C8B-B14F-4D97-AF65-F5344CB8AC3E}">
        <p14:creationId xmlns:p14="http://schemas.microsoft.com/office/powerpoint/2010/main" val="309307737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7323D0C7-E304-003C-0B5D-122EEDCA2977}"/>
              </a:ext>
            </a:extLst>
          </p:cNvPr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pic>
          <p:nvPicPr>
            <p:cNvPr id="3" name="Picture 2" descr="A screenshot of a computer&#10;&#10;AI-generated content may be incorrect.">
              <a:extLst>
                <a:ext uri="{FF2B5EF4-FFF2-40B4-BE49-F238E27FC236}">
                  <a16:creationId xmlns:a16="http://schemas.microsoft.com/office/drawing/2014/main" id="{4D2B6562-28CB-2705-CE78-54444BCF19CB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0" y="301385"/>
              <a:ext cx="12192000" cy="6556615"/>
            </a:xfrm>
            <a:prstGeom prst="rect">
              <a:avLst/>
            </a:prstGeom>
          </p:spPr>
        </p:pic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2AD18084-0F77-2C57-FB5B-991368CC34E1}"/>
                </a:ext>
              </a:extLst>
            </p:cNvPr>
            <p:cNvSpPr txBox="1"/>
            <p:nvPr/>
          </p:nvSpPr>
          <p:spPr>
            <a:xfrm>
              <a:off x="0" y="0"/>
              <a:ext cx="250581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VS code UI &amp; summary:</a:t>
              </a:r>
              <a:endParaRPr lang="en-IN" dirty="0"/>
            </a:p>
          </p:txBody>
        </p:sp>
      </p:grpSp>
    </p:spTree>
    <p:extLst>
      <p:ext uri="{BB962C8B-B14F-4D97-AF65-F5344CB8AC3E}">
        <p14:creationId xmlns:p14="http://schemas.microsoft.com/office/powerpoint/2010/main" val="33836506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>
            <a:extLst>
              <a:ext uri="{FF2B5EF4-FFF2-40B4-BE49-F238E27FC236}">
                <a16:creationId xmlns:a16="http://schemas.microsoft.com/office/drawing/2014/main" id="{D1C38589-6406-ADFC-5022-7DF341996C37}"/>
              </a:ext>
            </a:extLst>
          </p:cNvPr>
          <p:cNvGrpSpPr/>
          <p:nvPr/>
        </p:nvGrpSpPr>
        <p:grpSpPr>
          <a:xfrm>
            <a:off x="0" y="1"/>
            <a:ext cx="12192000" cy="6857999"/>
            <a:chOff x="0" y="1"/>
            <a:chExt cx="12192000" cy="6857999"/>
          </a:xfrm>
        </p:grpSpPr>
        <p:pic>
          <p:nvPicPr>
            <p:cNvPr id="3" name="Picture 2" descr="A screenshot of a computer&#10;&#10;AI-generated content may be incorrect.">
              <a:extLst>
                <a:ext uri="{FF2B5EF4-FFF2-40B4-BE49-F238E27FC236}">
                  <a16:creationId xmlns:a16="http://schemas.microsoft.com/office/drawing/2014/main" id="{3EC69221-BBF3-A0E7-A4E1-15BBA428AFFB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7123491" y="2075279"/>
              <a:ext cx="5068509" cy="4782721"/>
            </a:xfrm>
            <a:prstGeom prst="rect">
              <a:avLst/>
            </a:prstGeom>
          </p:spPr>
        </p:pic>
        <p:pic>
          <p:nvPicPr>
            <p:cNvPr id="4" name="Picture 3" descr="A screenshot of a computer&#10;&#10;AI-generated content may be incorrect.">
              <a:extLst>
                <a:ext uri="{FF2B5EF4-FFF2-40B4-BE49-F238E27FC236}">
                  <a16:creationId xmlns:a16="http://schemas.microsoft.com/office/drawing/2014/main" id="{4E4F7838-B382-F05B-A92F-8BA4C04B5527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0" y="1"/>
              <a:ext cx="7123491" cy="3227832"/>
            </a:xfrm>
            <a:prstGeom prst="rect">
              <a:avLst/>
            </a:prstGeom>
          </p:spPr>
        </p:pic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6A598E76-CD27-CE96-05A1-3024F299F92A}"/>
                </a:ext>
              </a:extLst>
            </p:cNvPr>
            <p:cNvSpPr txBox="1"/>
            <p:nvPr/>
          </p:nvSpPr>
          <p:spPr>
            <a:xfrm>
              <a:off x="1645920" y="3721608"/>
              <a:ext cx="3378874" cy="6463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Training data actual results</a:t>
              </a:r>
            </a:p>
            <a:p>
              <a:r>
                <a:rPr lang="en-US" dirty="0"/>
                <a:t>with SOLIDWORKS SIMULATION</a:t>
              </a:r>
            </a:p>
          </p:txBody>
        </p: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AE5E0443-FCDE-BD54-D84C-5BCFBB73BEB5}"/>
                </a:ext>
              </a:extLst>
            </p:cNvPr>
            <p:cNvSpPr txBox="1"/>
            <p:nvPr/>
          </p:nvSpPr>
          <p:spPr>
            <a:xfrm>
              <a:off x="8400493" y="1028709"/>
              <a:ext cx="3458427" cy="92333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Test data predicted result without SOLIDWORKS SIMULATION</a:t>
              </a:r>
              <a:endParaRPr lang="en-IN" dirty="0"/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81A2DAEF-B617-A744-99FD-11C4CE709016}"/>
                </a:ext>
              </a:extLst>
            </p:cNvPr>
            <p:cNvSpPr/>
            <p:nvPr/>
          </p:nvSpPr>
          <p:spPr>
            <a:xfrm>
              <a:off x="9496110" y="2688336"/>
              <a:ext cx="1092642" cy="740664"/>
            </a:xfrm>
            <a:prstGeom prst="rect">
              <a:avLst/>
            </a:prstGeom>
            <a:noFill/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cxnSp>
          <p:nvCxnSpPr>
            <p:cNvPr id="9" name="Connector: Elbow 8">
              <a:extLst>
                <a:ext uri="{FF2B5EF4-FFF2-40B4-BE49-F238E27FC236}">
                  <a16:creationId xmlns:a16="http://schemas.microsoft.com/office/drawing/2014/main" id="{FBC91941-74CD-7199-4491-67809724F04F}"/>
                </a:ext>
              </a:extLst>
            </p:cNvPr>
            <p:cNvCxnSpPr>
              <a:cxnSpLocks/>
            </p:cNvCxnSpPr>
            <p:nvPr/>
          </p:nvCxnSpPr>
          <p:spPr>
            <a:xfrm rot="10800000">
              <a:off x="2587752" y="2258568"/>
              <a:ext cx="7050024" cy="822960"/>
            </a:xfrm>
            <a:prstGeom prst="bentConnector3">
              <a:avLst>
                <a:gd name="adj1" fmla="val 76459"/>
              </a:avLst>
            </a:prstGeom>
            <a:ln>
              <a:solidFill>
                <a:srgbClr val="FF000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Connector: Elbow 10">
              <a:extLst>
                <a:ext uri="{FF2B5EF4-FFF2-40B4-BE49-F238E27FC236}">
                  <a16:creationId xmlns:a16="http://schemas.microsoft.com/office/drawing/2014/main" id="{279EEA74-4D60-FEF7-1472-E4EB46DF3800}"/>
                </a:ext>
              </a:extLst>
            </p:cNvPr>
            <p:cNvCxnSpPr>
              <a:cxnSpLocks/>
            </p:cNvCxnSpPr>
            <p:nvPr/>
          </p:nvCxnSpPr>
          <p:spPr>
            <a:xfrm rot="10800000">
              <a:off x="5068510" y="2272489"/>
              <a:ext cx="4552502" cy="1047375"/>
            </a:xfrm>
            <a:prstGeom prst="bentConnector3">
              <a:avLst>
                <a:gd name="adj1" fmla="val 60846"/>
              </a:avLst>
            </a:prstGeom>
            <a:ln>
              <a:solidFill>
                <a:srgbClr val="FF000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graphicFrame>
          <p:nvGraphicFramePr>
            <p:cNvPr id="23" name="Object 22">
              <a:extLst>
                <a:ext uri="{FF2B5EF4-FFF2-40B4-BE49-F238E27FC236}">
                  <a16:creationId xmlns:a16="http://schemas.microsoft.com/office/drawing/2014/main" id="{BD1834E1-9633-9939-F1B3-D37EBA889E3D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996828568"/>
                </p:ext>
              </p:extLst>
            </p:nvPr>
          </p:nvGraphicFramePr>
          <p:xfrm>
            <a:off x="4724401" y="3721608"/>
            <a:ext cx="914400" cy="77152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Macro-Enabled Worksheet" showAsIcon="1" r:id="rId4" imgW="914400" imgH="771525" progId="Excel.SheetMacroEnabled.12">
                    <p:embed/>
                  </p:oleObj>
                </mc:Choice>
                <mc:Fallback>
                  <p:oleObj name="Macro-Enabled Worksheet" showAsIcon="1" r:id="rId4" imgW="914400" imgH="771525" progId="Excel.SheetMacroEnabled.12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5"/>
                        <a:stretch>
                          <a:fillRect/>
                        </a:stretch>
                      </p:blipFill>
                      <p:spPr>
                        <a:xfrm>
                          <a:off x="4724401" y="3721608"/>
                          <a:ext cx="914400" cy="771525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4" name="Object 23">
              <a:extLst>
                <a:ext uri="{FF2B5EF4-FFF2-40B4-BE49-F238E27FC236}">
                  <a16:creationId xmlns:a16="http://schemas.microsoft.com/office/drawing/2014/main" id="{A8D159EB-932D-0144-DD64-3611591C3D89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410596749"/>
                </p:ext>
              </p:extLst>
            </p:nvPr>
          </p:nvGraphicFramePr>
          <p:xfrm>
            <a:off x="10878312" y="435610"/>
            <a:ext cx="914400" cy="77152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Packager Shell Object" showAsIcon="1" r:id="rId6" imgW="914400" imgH="771525" progId="Package">
                    <p:embed/>
                  </p:oleObj>
                </mc:Choice>
                <mc:Fallback>
                  <p:oleObj name="Packager Shell Object" showAsIcon="1" r:id="rId6" imgW="914400" imgH="771525" progId="Package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7"/>
                        <a:stretch>
                          <a:fillRect/>
                        </a:stretch>
                      </p:blipFill>
                      <p:spPr>
                        <a:xfrm>
                          <a:off x="10878312" y="435610"/>
                          <a:ext cx="914400" cy="771525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5" name="Object 24">
              <a:extLst>
                <a:ext uri="{FF2B5EF4-FFF2-40B4-BE49-F238E27FC236}">
                  <a16:creationId xmlns:a16="http://schemas.microsoft.com/office/drawing/2014/main" id="{B94B2529-2E0D-C627-1E5E-6D4FD088579C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140507640"/>
                </p:ext>
              </p:extLst>
            </p:nvPr>
          </p:nvGraphicFramePr>
          <p:xfrm>
            <a:off x="10882884" y="1330375"/>
            <a:ext cx="914400" cy="77152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Packager Shell Object" showAsIcon="1" r:id="rId8" imgW="914400" imgH="771525" progId="Package">
                    <p:embed/>
                  </p:oleObj>
                </mc:Choice>
                <mc:Fallback>
                  <p:oleObj name="Packager Shell Object" showAsIcon="1" r:id="rId8" imgW="914400" imgH="771525" progId="Package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9"/>
                        <a:stretch>
                          <a:fillRect/>
                        </a:stretch>
                      </p:blipFill>
                      <p:spPr>
                        <a:xfrm>
                          <a:off x="10882884" y="1330375"/>
                          <a:ext cx="914400" cy="771525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" name="TextBox 1">
              <a:extLst>
                <a:ext uri="{FF2B5EF4-FFF2-40B4-BE49-F238E27FC236}">
                  <a16:creationId xmlns:a16="http://schemas.microsoft.com/office/drawing/2014/main" id="{9DFE76F6-7614-C1C4-A085-34E4A47C9283}"/>
                </a:ext>
              </a:extLst>
            </p:cNvPr>
            <p:cNvSpPr txBox="1"/>
            <p:nvPr/>
          </p:nvSpPr>
          <p:spPr>
            <a:xfrm>
              <a:off x="0" y="6488668"/>
              <a:ext cx="382649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highlight>
                    <a:srgbClr val="FFFF00"/>
                  </a:highlight>
                </a:rPr>
                <a:t>Verifying training set or known values</a:t>
              </a:r>
              <a:endParaRPr lang="en-IN" dirty="0">
                <a:highlight>
                  <a:srgbClr val="FFFF00"/>
                </a:highlight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6579001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4">
            <a:extLst>
              <a:ext uri="{FF2B5EF4-FFF2-40B4-BE49-F238E27FC236}">
                <a16:creationId xmlns:a16="http://schemas.microsoft.com/office/drawing/2014/main" id="{6B4DEDE3-471C-8DA2-D5E1-D25046116676}"/>
              </a:ext>
            </a:extLst>
          </p:cNvPr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pic>
          <p:nvPicPr>
            <p:cNvPr id="3" name="Picture 2" descr="A screenshot of a computer program&#10;&#10;AI-generated content may be incorrect.">
              <a:extLst>
                <a:ext uri="{FF2B5EF4-FFF2-40B4-BE49-F238E27FC236}">
                  <a16:creationId xmlns:a16="http://schemas.microsoft.com/office/drawing/2014/main" id="{B7D17871-6F04-8799-D1EB-C823A584B847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0" y="0"/>
              <a:ext cx="12192000" cy="6543908"/>
            </a:xfrm>
            <a:prstGeom prst="rect">
              <a:avLst/>
            </a:prstGeom>
          </p:spPr>
        </p:pic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82D74556-3F38-2268-BC0F-D34B26718E41}"/>
                </a:ext>
              </a:extLst>
            </p:cNvPr>
            <p:cNvSpPr txBox="1"/>
            <p:nvPr/>
          </p:nvSpPr>
          <p:spPr>
            <a:xfrm>
              <a:off x="0" y="6488668"/>
              <a:ext cx="300165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highlight>
                    <a:srgbClr val="FFFF00"/>
                  </a:highlight>
                </a:rPr>
                <a:t>Verifying for unknown values</a:t>
              </a:r>
              <a:endParaRPr lang="en-IN" dirty="0">
                <a:highlight>
                  <a:srgbClr val="FFFF00"/>
                </a:highlight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20475551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" name="Group 14">
            <a:extLst>
              <a:ext uri="{FF2B5EF4-FFF2-40B4-BE49-F238E27FC236}">
                <a16:creationId xmlns:a16="http://schemas.microsoft.com/office/drawing/2014/main" id="{D8C1C473-4D9F-B506-FAA3-9DECBAE0A9BD}"/>
              </a:ext>
            </a:extLst>
          </p:cNvPr>
          <p:cNvGrpSpPr/>
          <p:nvPr/>
        </p:nvGrpSpPr>
        <p:grpSpPr>
          <a:xfrm>
            <a:off x="-75414" y="0"/>
            <a:ext cx="12267415" cy="6858000"/>
            <a:chOff x="-75414" y="0"/>
            <a:chExt cx="12267415" cy="6858000"/>
          </a:xfrm>
        </p:grpSpPr>
        <p:pic>
          <p:nvPicPr>
            <p:cNvPr id="3" name="Picture 2">
              <a:extLst>
                <a:ext uri="{FF2B5EF4-FFF2-40B4-BE49-F238E27FC236}">
                  <a16:creationId xmlns:a16="http://schemas.microsoft.com/office/drawing/2014/main" id="{B3B260B7-DFC6-3535-4D47-8C3DAE1AC99A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" y="5206646"/>
              <a:ext cx="12192000" cy="858807"/>
            </a:xfrm>
            <a:prstGeom prst="rect">
              <a:avLst/>
            </a:prstGeom>
          </p:spPr>
        </p:pic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B2EB6F9D-05C6-D4AB-FA41-450B97E76B0A}"/>
                </a:ext>
              </a:extLst>
            </p:cNvPr>
            <p:cNvSpPr txBox="1"/>
            <p:nvPr/>
          </p:nvSpPr>
          <p:spPr>
            <a:xfrm>
              <a:off x="0" y="6488668"/>
              <a:ext cx="589994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highlight>
                    <a:srgbClr val="00FF00"/>
                  </a:highlight>
                </a:rPr>
                <a:t>Finding for new values of load 100 </a:t>
              </a:r>
              <a:r>
                <a:rPr lang="en-US" dirty="0" err="1">
                  <a:highlight>
                    <a:srgbClr val="00FF00"/>
                  </a:highlight>
                </a:rPr>
                <a:t>lbf</a:t>
              </a:r>
              <a:r>
                <a:rPr lang="en-US" dirty="0">
                  <a:highlight>
                    <a:srgbClr val="00FF00"/>
                  </a:highlight>
                </a:rPr>
                <a:t> &amp; thickness 1.4mm</a:t>
              </a:r>
              <a:endParaRPr lang="en-IN" dirty="0">
                <a:highlight>
                  <a:srgbClr val="00FF00"/>
                </a:highlight>
              </a:endParaRPr>
            </a:p>
          </p:txBody>
        </p:sp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EEC33C36-B0F8-9927-49B6-3FCD269088D5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0" y="0"/>
              <a:ext cx="12192000" cy="1354667"/>
            </a:xfrm>
            <a:prstGeom prst="rect">
              <a:avLst/>
            </a:prstGeom>
          </p:spPr>
        </p:pic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969E8E4D-7CE1-40FE-2664-F1879046148A}"/>
                </a:ext>
              </a:extLst>
            </p:cNvPr>
            <p:cNvSpPr txBox="1"/>
            <p:nvPr/>
          </p:nvSpPr>
          <p:spPr>
            <a:xfrm>
              <a:off x="-75414" y="1332043"/>
              <a:ext cx="229165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>
              <a:defPPr>
                <a:defRPr lang="en-US"/>
              </a:defPPr>
              <a:lvl1pPr>
                <a:defRPr>
                  <a:highlight>
                    <a:srgbClr val="FFFF00"/>
                  </a:highlight>
                </a:defRPr>
              </a:lvl1pPr>
            </a:lstStyle>
            <a:p>
              <a:r>
                <a:rPr lang="en-US" dirty="0"/>
                <a:t>Training data as input</a:t>
              </a:r>
              <a:endParaRPr lang="en-IN" dirty="0"/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90373C00-0807-57FE-5056-5C396C665F8B}"/>
                </a:ext>
              </a:extLst>
            </p:cNvPr>
            <p:cNvSpPr txBox="1"/>
            <p:nvPr/>
          </p:nvSpPr>
          <p:spPr>
            <a:xfrm>
              <a:off x="0" y="6085254"/>
              <a:ext cx="261283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>
              <a:defPPr>
                <a:defRPr lang="en-US"/>
              </a:defPPr>
              <a:lvl1pPr>
                <a:defRPr>
                  <a:highlight>
                    <a:srgbClr val="FFFF00"/>
                  </a:highlight>
                </a:defRPr>
              </a:lvl1pPr>
            </a:lstStyle>
            <a:p>
              <a:r>
                <a:rPr lang="en-US" dirty="0"/>
                <a:t>Unknown data as output</a:t>
              </a:r>
              <a:endParaRPr lang="en-IN" dirty="0"/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A16B25C3-4D9B-57A2-752F-DF510E7E814F}"/>
                </a:ext>
              </a:extLst>
            </p:cNvPr>
            <p:cNvSpPr/>
            <p:nvPr/>
          </p:nvSpPr>
          <p:spPr>
            <a:xfrm>
              <a:off x="10966692" y="5334690"/>
              <a:ext cx="816813" cy="455536"/>
            </a:xfrm>
            <a:prstGeom prst="rect">
              <a:avLst/>
            </a:prstGeom>
            <a:noFill/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E60CEB1D-40E4-89CD-27D1-C4E1D0BE5711}"/>
                </a:ext>
              </a:extLst>
            </p:cNvPr>
            <p:cNvSpPr/>
            <p:nvPr/>
          </p:nvSpPr>
          <p:spPr>
            <a:xfrm>
              <a:off x="1070412" y="5710265"/>
              <a:ext cx="1060046" cy="326907"/>
            </a:xfrm>
            <a:prstGeom prst="rect">
              <a:avLst/>
            </a:prstGeom>
            <a:noFill/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pic>
          <p:nvPicPr>
            <p:cNvPr id="14" name="Picture 13" descr="A screenshot of a computer&#10;&#10;AI-generated content may be incorrect.">
              <a:extLst>
                <a:ext uri="{FF2B5EF4-FFF2-40B4-BE49-F238E27FC236}">
                  <a16:creationId xmlns:a16="http://schemas.microsoft.com/office/drawing/2014/main" id="{D5B90E58-9876-6407-BFDF-189A5CB7A671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0" y="2677720"/>
              <a:ext cx="10021824" cy="247358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6786600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92</TotalTime>
  <Words>283</Words>
  <Application>Microsoft Office PowerPoint</Application>
  <PresentationFormat>Widescreen</PresentationFormat>
  <Paragraphs>22</Paragraphs>
  <Slides>7</Slides>
  <Notes>0</Notes>
  <HiddenSlides>0</HiddenSlides>
  <MMClips>0</MMClips>
  <ScaleCrop>false</ScaleCrop>
  <HeadingPairs>
    <vt:vector size="8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2</vt:i4>
      </vt:variant>
      <vt:variant>
        <vt:lpstr>Slide Titles</vt:lpstr>
      </vt:variant>
      <vt:variant>
        <vt:i4>7</vt:i4>
      </vt:variant>
    </vt:vector>
  </HeadingPairs>
  <TitlesOfParts>
    <vt:vector size="13" baseType="lpstr">
      <vt:lpstr>Aptos</vt:lpstr>
      <vt:lpstr>Aptos Display</vt:lpstr>
      <vt:lpstr>Arial</vt:lpstr>
      <vt:lpstr>Office Theme</vt:lpstr>
      <vt:lpstr>Macro-Enabled Worksheet</vt:lpstr>
      <vt:lpstr>Packager Shell Object</vt:lpstr>
      <vt:lpstr>Failure Prediction CIRCA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Pramod  Pandit</dc:creator>
  <cp:lastModifiedBy>Pramod  Pandit</cp:lastModifiedBy>
  <cp:revision>43</cp:revision>
  <dcterms:created xsi:type="dcterms:W3CDTF">2025-12-10T20:31:41Z</dcterms:created>
  <dcterms:modified xsi:type="dcterms:W3CDTF">2025-12-11T13:34:36Z</dcterms:modified>
</cp:coreProperties>
</file>